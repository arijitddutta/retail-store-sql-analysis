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F2A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730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Home</c:v>
                  </c:pt>
                  <c:pt idx="3">
                    <c:v>Toys</c:v>
                  </c:pt>
                  <c:pt idx="4">
                    <c:v>Books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687</c:v>
                </c:pt>
                <c:pt idx="1">
                  <c:v>559</c:v>
                </c:pt>
                <c:pt idx="2">
                  <c:v>443</c:v>
                </c:pt>
                <c:pt idx="3">
                  <c:v>405</c:v>
                </c:pt>
                <c:pt idx="4">
                  <c:v>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730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0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9525" cap="flat">
              <a:solidFill>
                <a:srgbClr val="E1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7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</c:v>
                </c:pt>
              </c:strCache>
            </c:strRef>
          </c:tx>
          <c:spPr>
            <a:solidFill>
              <a:srgbClr val="F2A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30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Clothing</c:v>
                  </c:pt>
                  <c:pt idx="1">
                    <c:v>Books</c:v>
                  </c:pt>
                  <c:pt idx="2">
                    <c:v>Electronics</c:v>
                  </c:pt>
                  <c:pt idx="3">
                    <c:v>Toys</c:v>
                  </c:pt>
                  <c:pt idx="4">
                    <c:v>Home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3434.58</c:v>
                </c:pt>
                <c:pt idx="1">
                  <c:v>3167.08</c:v>
                </c:pt>
                <c:pt idx="2">
                  <c:v>2653.39</c:v>
                </c:pt>
                <c:pt idx="3">
                  <c:v>2516.53</c:v>
                </c:pt>
                <c:pt idx="4">
                  <c:v>2146.37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30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30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9525" cap="flat">
              <a:solidFill>
                <a:srgbClr val="E1EA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7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0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F7A7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DB3A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9D8D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Debit Card</c:v>
                </c:pt>
                <c:pt idx="1">
                  <c:v>Credit Card</c:v>
                </c:pt>
                <c:pt idx="2">
                  <c:v>Net Banking</c:v>
                </c:pt>
                <c:pt idx="3">
                  <c:v>UPI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1930577.88</c:v>
                </c:pt>
                <c:pt idx="1">
                  <c:v>1754603.1</c:v>
                </c:pt>
                <c:pt idx="2">
                  <c:v>1658383.9</c:v>
                </c:pt>
                <c:pt idx="3">
                  <c:v>1617408.78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(₹ lakh)</c:v>
                </c:pt>
              </c:strCache>
            </c:strRef>
          </c:tx>
          <c:spPr>
            <a:solidFill>
              <a:srgbClr val="1F7A7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30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0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F7A7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  <c:pt idx="3">
                    <c:v>C4</c:v>
                  </c:pt>
                  <c:pt idx="4">
                    <c:v>C5</c:v>
                  </c:pt>
                  <c:pt idx="5">
                    <c:v>C6</c:v>
                  </c:pt>
                  <c:pt idx="6">
                    <c:v>C7</c:v>
                  </c:pt>
                  <c:pt idx="7">
                    <c:v>C8</c:v>
                  </c:pt>
                  <c:pt idx="8">
                    <c:v>C9</c:v>
                  </c:pt>
                  <c:pt idx="9">
                    <c:v>C10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1.84</c:v>
                </c:pt>
                <c:pt idx="1">
                  <c:v>2.84</c:v>
                </c:pt>
                <c:pt idx="2">
                  <c:v>2.54</c:v>
                </c:pt>
                <c:pt idx="3">
                  <c:v>1.38</c:v>
                </c:pt>
                <c:pt idx="4">
                  <c:v>2.63</c:v>
                </c:pt>
                <c:pt idx="5">
                  <c:v>2.12</c:v>
                </c:pt>
                <c:pt idx="6">
                  <c:v>1.68</c:v>
                </c:pt>
                <c:pt idx="7">
                  <c:v>1.65</c:v>
                </c:pt>
                <c:pt idx="8">
                  <c:v>1.06</c:v>
                </c:pt>
                <c:pt idx="9">
                  <c:v>2.53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1730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30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9525" cap="flat">
              <a:solidFill>
                <a:srgbClr val="E1EA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8727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87270"/>
                    </a:solidFill>
                    <a:latin typeface="Arial"/>
                  </a:rPr>
                  <a:t>₹ lakh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7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retail store database analysed with 42 SQL queries, from simple filters up to subqueries and set operations. This deck walks through the results and what they tell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400 orders from 30 customers, about 6.96 million rupees in total order value. Order value includes every status, including cancelled and pending, which I come back to in the last content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tables: customers, products, orders, order_items, payments and product_reviews. Most questions needed two or more of them, which is where the joins and subqueries come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Levels 1 to 6: filters, row-level calculations, aggregations, joins, subqueries and set operations. 10 + 6 + 10 + 7 + 7 + 2 = 42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sold 687 units out of 2,444 in total, about 28%. Books were lowest at 350. That is nearly a 2x gap between the top and bottom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Clothing averages about 3,435 rupees and Home about 2,146. Price alone does not explain volume: Books are the second most expensive category but sell the least. This is a catalogue average, not weighted by what actually 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Debit card brings in the most at about 19.3 lakh, 27.7% of the total. UPI is lowest at 16.2 lakh, 23.2%. The spread is only about 4.5 percentage points. Source: Level 3, Question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Among the first ten customers, total spend runs from about 1.06 lakh (customer 9) to 2.84 lakh (customer 2), highlighted here. Customers 1 to 12 placed between 9 and 17 orders each. Sources: Level 3 Q5 and Q6, Level 5 Q6.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integrity check returned empty or matched: no orphan orders, no out-of-stock or never-ordered products, every customer has ordered, and total payments equal total order value at 69,60,973.66 rupees.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inner query refers to the outer alias a, so it is re-evaluated for each order. That is what makes it correlated, and it lets us compare every order against its own customer's average rather than the global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limits: revenue here includes cancelled and pending orders, and a few queries can be made more robust. Next I want to use window functions, CTEs and build a Power BI dashboard on this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to the GitHub repository and LinkedIn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3200400" cy="3200400"/>
          </a:xfrm>
          <a:prstGeom prst="ellipse">
            <a:avLst/>
          </a:prstGeom>
          <a:solidFill>
            <a:srgbClr val="1F7A7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1828800"/>
            <a:ext cx="1371600" cy="1371600"/>
          </a:xfrm>
          <a:prstGeom prst="ellipse">
            <a:avLst/>
          </a:prstGeom>
          <a:solidFill>
            <a:srgbClr val="0B2B2A"/>
          </a:solidFill>
          <a:ln/>
        </p:spPr>
      </p:sp>
      <p:sp>
        <p:nvSpPr>
          <p:cNvPr id="4" name="Shape 2"/>
          <p:cNvSpPr/>
          <p:nvPr/>
        </p:nvSpPr>
        <p:spPr>
          <a:xfrm>
            <a:off x="7360920" y="502920"/>
            <a:ext cx="1051560" cy="1051560"/>
          </a:xfrm>
          <a:prstGeom prst="ellipse">
            <a:avLst/>
          </a:prstGeom>
          <a:solidFill>
            <a:srgbClr val="F2A0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5357" y="797357"/>
            <a:ext cx="462686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3429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834" y="3697834"/>
            <a:ext cx="422453" cy="42245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35240" y="3063240"/>
            <a:ext cx="777240" cy="777240"/>
          </a:xfrm>
          <a:prstGeom prst="ellipse">
            <a:avLst/>
          </a:prstGeom>
          <a:solidFill>
            <a:srgbClr val="5DB3A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3280867"/>
            <a:ext cx="341986" cy="34198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240280"/>
            <a:ext cx="548640" cy="5486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48640" y="777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MINI PROJECT  |  ADDA247</a:t>
            </a:r>
            <a:endParaRPr lang="en-US" sz="11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13716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Store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46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3200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insights from 42 SQL queries across 6 tables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Arijit Dutta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from the orders table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8452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placed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90800" y="1463040"/>
            <a:ext cx="1828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19400" y="1691640"/>
            <a:ext cx="548640" cy="54864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019" y="184525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1940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281940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24400" y="1463040"/>
            <a:ext cx="1828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53000" y="1691640"/>
            <a:ext cx="548640" cy="54864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619" y="18452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5300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₹69.6L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495300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value (all statuses)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58000" y="1463040"/>
            <a:ext cx="1828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86600" y="1691640"/>
            <a:ext cx="548640" cy="54864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219" y="18452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8660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₹17,402</a:t>
            </a:r>
            <a:endParaRPr lang="en-US" sz="3200" dirty="0"/>
          </a:p>
        </p:txBody>
      </p:sp>
      <p:sp>
        <p:nvSpPr>
          <p:cNvPr id="25" name="Text 19"/>
          <p:cNvSpPr txBox="1"/>
          <p:nvPr/>
        </p:nvSpPr>
        <p:spPr>
          <a:xfrm>
            <a:off x="708660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DDEFEA"/>
          </a:solidFill>
          <a:ln/>
        </p:spPr>
      </p:sp>
      <p:sp>
        <p:nvSpPr>
          <p:cNvPr id="27" name="Shape 21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F2A03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4072738"/>
            <a:ext cx="221285" cy="22128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25880" y="3886200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customer placed about 13 orders (400 / 30) worth roughly ₹2.3 lakh in total, so customers here buy repeatedly.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tables, one story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 store database behind the analysis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741018"/>
            <a:ext cx="221285" cy="22128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 and sign-up date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00200"/>
            <a:ext cx="502920" cy="50292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538" y="1741018"/>
            <a:ext cx="221285" cy="22128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1480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price, stock quantity and date added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1741018"/>
            <a:ext cx="221285" cy="22128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4944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date, status, total amount and customer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28803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204058"/>
            <a:ext cx="221285" cy="22128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3063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quantity and item price per order line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91840" y="28803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0" y="3063240"/>
            <a:ext cx="502920" cy="50292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538" y="3204058"/>
            <a:ext cx="221285" cy="22128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114800" y="3063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method, amount paid and payment date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126480" y="28803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09360" y="3063240"/>
            <a:ext cx="502920" cy="50292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178" y="3204058"/>
            <a:ext cx="221285" cy="22128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949440" y="3063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product_reviews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630936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written by customers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connect:  customers → orders → order_items → products   |   orders → payments   |   customers → product_reviews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queries, six levels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added a new SQL skill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4420" y="1783080"/>
            <a:ext cx="6995160" cy="0"/>
          </a:xfrm>
          <a:prstGeom prst="line">
            <a:avLst/>
          </a:prstGeom>
          <a:noFill/>
          <a:ln w="25400">
            <a:solidFill>
              <a:srgbClr val="A9D8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234440" cy="20574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4380" y="1463040"/>
            <a:ext cx="640080" cy="640080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43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3774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SELECT and filters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1089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429000"/>
            <a:ext cx="1014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BETWEEN, IN, LIKE, ORDER BY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56232" y="2240280"/>
            <a:ext cx="1234440" cy="20574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53412" y="1463040"/>
            <a:ext cx="640080" cy="640080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153412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23774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and calculations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1089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queries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3429000"/>
            <a:ext cx="1014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Aliases, CONCAT, DATE(), IS NULL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55264" y="2240280"/>
            <a:ext cx="1234440" cy="20574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52444" y="1463040"/>
            <a:ext cx="640080" cy="640080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5244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23774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64992" y="31089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64992" y="3429000"/>
            <a:ext cx="1014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GROUP BY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54296" y="2240280"/>
            <a:ext cx="1234440" cy="20574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51476" y="1463040"/>
            <a:ext cx="640080" cy="640080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951476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4764024" y="23774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764024" y="31089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queries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764024" y="3429000"/>
            <a:ext cx="1014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LEFT, RIGHT, 3-table joins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53328" y="2240280"/>
            <a:ext cx="1234440" cy="20574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0508" y="1463040"/>
            <a:ext cx="640080" cy="640080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0508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6163056" y="23774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163056" y="31089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queries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163056" y="3429000"/>
            <a:ext cx="1014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Scalar, correlated, NOT 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52360" y="2240280"/>
            <a:ext cx="1234440" cy="20574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49540" y="1463040"/>
            <a:ext cx="640080" cy="640080"/>
          </a:xfrm>
          <a:prstGeom prst="ellipse">
            <a:avLst/>
          </a:prstGeom>
          <a:solidFill>
            <a:srgbClr val="F2A03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495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7562088" y="23774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562088" y="31089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queries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562088" y="3429000"/>
            <a:ext cx="1014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 with AND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drives sales volume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per product category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594360" y="150876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5800" y="4251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Level 3, Question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1417320"/>
            <a:ext cx="2834640" cy="3108960"/>
          </a:xfrm>
          <a:prstGeom prst="roundRect">
            <a:avLst>
              <a:gd name="adj" fmla="val 3871"/>
            </a:avLst>
          </a:prstGeom>
          <a:solidFill>
            <a:srgbClr val="0E3B3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126480" y="1600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2,444 units sold are Electronics (687 units).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trail at 350 units (14%), so the top category sells almost 2x the bottom 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is priciest, Home is cheapest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price per category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not the whole story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has the highest average price yet is second in units sold (559). Books, second-priciest, sell the fewest (350).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leader is mid-priced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66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sells the most units at an average of about ₹2,653, right in the middle of the price range.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3360" y="1417320"/>
            <a:ext cx="4663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3" name="Chart 0" descr=""/>
          <p:cNvGraphicFramePr/>
          <p:nvPr/>
        </p:nvGraphicFramePr>
        <p:xfrm>
          <a:off x="4114800" y="1508760"/>
          <a:ext cx="4480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206240" y="4251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catalogue prices in ₹, not weighted by sales. Source: Level 3, Question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split almost evenly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payments received per payment method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594360" y="1554480"/>
          <a:ext cx="35661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1691640" y="2606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₹69.6L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received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0" y="1417320"/>
            <a:ext cx="41148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81912"/>
            <a:ext cx="201168" cy="201168"/>
          </a:xfrm>
          <a:prstGeom prst="ellipse">
            <a:avLst/>
          </a:prstGeom>
          <a:solidFill>
            <a:srgbClr val="F2A0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20640" y="141732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14173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₹19.31L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14173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0" y="2039112"/>
            <a:ext cx="41148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203704"/>
            <a:ext cx="201168" cy="201168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20640" y="20391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03911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₹17.55L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03911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0" y="2660904"/>
            <a:ext cx="41148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825496"/>
            <a:ext cx="201168" cy="201168"/>
          </a:xfrm>
          <a:prstGeom prst="ellipse">
            <a:avLst/>
          </a:prstGeom>
          <a:solidFill>
            <a:srgbClr val="5DB3A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120640" y="266090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266090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₹16.58L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266090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0" y="3282696"/>
            <a:ext cx="41148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3447288"/>
            <a:ext cx="201168" cy="201168"/>
          </a:xfrm>
          <a:prstGeom prst="ellipse">
            <a:avLst/>
          </a:prstGeom>
          <a:solidFill>
            <a:srgbClr val="A9D8D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120640" y="328269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32826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₹16.17L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32826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0" y="3931920"/>
            <a:ext cx="4114800" cy="594360"/>
          </a:xfrm>
          <a:prstGeom prst="roundRect">
            <a:avLst>
              <a:gd name="adj" fmla="val 18462"/>
            </a:avLst>
          </a:prstGeom>
          <a:solidFill>
            <a:srgbClr val="DDEFE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54880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4.5 points separate first from last, so no single method dominates.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 varies widely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per customer, customers 1 to 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594360" y="1508760"/>
          <a:ext cx="49377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5800" y="42245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customers from the Level 3 Q6 output. Totals include all order statuses.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1417320"/>
            <a:ext cx="274320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126480" y="14904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19019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orders per customer (400 orders / 30 customers)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2500884"/>
            <a:ext cx="274320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126480" y="25740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₹2.32L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29855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per customer across all 30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3584448"/>
            <a:ext cx="274320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12648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₹42,056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order among customers 1 to 10 (customer 2)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health check: all clear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checks, five clean results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645920"/>
            <a:ext cx="457200" cy="45720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77393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194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8346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a missing customer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Q1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35124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65476" y="1645920"/>
            <a:ext cx="457200" cy="45720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177393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35124" y="2194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2244852" y="28346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out of stock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244852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Q6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813048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43400" y="1645920"/>
            <a:ext cx="457200" cy="45720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77393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813048" y="2194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3922776" y="28346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never ordered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3922776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Q4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90972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21324" y="1645920"/>
            <a:ext cx="457200" cy="45720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773936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90972" y="2194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8" name="Text 22"/>
          <p:cNvSpPr txBox="1"/>
          <p:nvPr/>
        </p:nvSpPr>
        <p:spPr>
          <a:xfrm>
            <a:off x="5600700" y="28346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that were never ordered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600700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Q5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168896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699248" y="1645920"/>
            <a:ext cx="457200" cy="45720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4" y="1773936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168896" y="2194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4000" dirty="0"/>
          </a:p>
        </p:txBody>
      </p:sp>
      <p:sp>
        <p:nvSpPr>
          <p:cNvPr id="34" name="Text 27"/>
          <p:cNvSpPr txBox="1"/>
          <p:nvPr/>
        </p:nvSpPr>
        <p:spPr>
          <a:xfrm>
            <a:off x="7278624" y="28346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payments and order value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278624" y="34564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Q2 and Q10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DDEFEA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keys and matching totals mean the earlier numbers can be trusted, with one caveat next.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spotlight: correlated subquery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above that customer's own average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846320" cy="3108960"/>
          </a:xfrm>
          <a:prstGeom prst="roundRect">
            <a:avLst>
              <a:gd name="adj" fmla="val 3529"/>
            </a:avLst>
          </a:prstGeom>
          <a:solidFill>
            <a:srgbClr val="0B2B2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2A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6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a.order_id, a.order_date,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6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a.customer_id, a.total_amount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2A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6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a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2A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6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a.total_amount &gt; (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2A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6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AVG(b.total_amount)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2A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6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b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2A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6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a.customer_id = b.customer_id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6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Level 5, Question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141732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682496"/>
            <a:ext cx="384048" cy="384048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508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query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783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every order, aliased as 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251460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2779776"/>
            <a:ext cx="384048" cy="384048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607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06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the average for that order's own customer (b).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577840" y="361188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3877056"/>
            <a:ext cx="384048" cy="384048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977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orders that beat their customer's average.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tighten, and 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 and the next skills to add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SQL Analysis  |  Arijit Dutta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F2A0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282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tighten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9456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counts every status.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and Pending orders are included; filter to fulfilled orders for true revenue.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needs a NULL guard.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added IS NOT NULL; NOT EXISTS is the safer pattern.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return extra rows.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equality can return several orders per customer; ROW_NUMBER() returns one.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09160" y="14173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72821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19456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functions.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running totals per customer.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and time trends.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and order growth.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dashboard.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587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these queries into an interactive report.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3200400" cy="3200400"/>
          </a:xfrm>
          <a:prstGeom prst="ellipse">
            <a:avLst/>
          </a:prstGeom>
          <a:solidFill>
            <a:srgbClr val="1F7A7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1828800"/>
            <a:ext cx="1371600" cy="1371600"/>
          </a:xfrm>
          <a:prstGeom prst="ellipse">
            <a:avLst/>
          </a:prstGeom>
          <a:solidFill>
            <a:srgbClr val="0B2B2A"/>
          </a:solidFill>
          <a:ln/>
        </p:spPr>
      </p:sp>
      <p:sp>
        <p:nvSpPr>
          <p:cNvPr id="4" name="Shape 2"/>
          <p:cNvSpPr/>
          <p:nvPr/>
        </p:nvSpPr>
        <p:spPr>
          <a:xfrm>
            <a:off x="7360920" y="502920"/>
            <a:ext cx="1051560" cy="1051560"/>
          </a:xfrm>
          <a:prstGeom prst="ellipse">
            <a:avLst/>
          </a:prstGeom>
          <a:solidFill>
            <a:srgbClr val="F2A0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5357" y="797357"/>
            <a:ext cx="462686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3429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834" y="3697834"/>
            <a:ext cx="422453" cy="42245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35240" y="3063240"/>
            <a:ext cx="777240" cy="777240"/>
          </a:xfrm>
          <a:prstGeom prst="ellipse">
            <a:avLst/>
          </a:prstGeom>
          <a:solidFill>
            <a:srgbClr val="5DB3A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3280867"/>
            <a:ext cx="341986" cy="34198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240280"/>
            <a:ext cx="548640" cy="5486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48640" y="914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queries, output screenshots and a README are on GitHub. Questions and feedback are welcome.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2A03D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28269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8872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github.com/arijitddutta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F2A03D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3922776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18872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linkedin.com/in/arijit-dutta-552b41199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Store SQL Analysis - Reports &amp; Insights</dc:title>
  <dc:subject>PptxGenJS Presentation</dc:subject>
  <dc:creator>Arijit Dutta</dc:creator>
  <cp:lastModifiedBy>Arijit Dutta</cp:lastModifiedBy>
  <cp:revision>1</cp:revision>
  <dcterms:created xsi:type="dcterms:W3CDTF">2026-09-23T22:24:22Z</dcterms:created>
  <dcterms:modified xsi:type="dcterms:W3CDTF">2026-09-23T22:24:22Z</dcterms:modified>
</cp:coreProperties>
</file>